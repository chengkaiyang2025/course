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76" r:id="rId4"/>
    <p:sldId id="257" r:id="rId5"/>
    <p:sldId id="258" r:id="rId6"/>
    <p:sldId id="275" r:id="rId8"/>
    <p:sldId id="270" r:id="rId9"/>
    <p:sldId id="266" r:id="rId10"/>
    <p:sldId id="271" r:id="rId11"/>
    <p:sldId id="268" r:id="rId12"/>
    <p:sldId id="272" r:id="rId13"/>
    <p:sldId id="277" r:id="rId14"/>
    <p:sldId id="274" r:id="rId15"/>
    <p:sldId id="273" r:id="rId16"/>
    <p:sldId id="261" r:id="rId17"/>
    <p:sldId id="262" r:id="rId18"/>
    <p:sldId id="278" r:id="rId19"/>
    <p:sldId id="279" r:id="rId20"/>
    <p:sldId id="263" r:id="rId21"/>
    <p:sldId id="264" r:id="rId22"/>
    <p:sldId id="280" r:id="rId23"/>
    <p:sldId id="281" r:id="rId24"/>
    <p:sldId id="259" r:id="rId25"/>
    <p:sldId id="260"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有多少人认为：我们应该使用</a:t>
            </a:r>
            <a:r>
              <a:rPr lang="en-US" altLang="zh-CN"/>
              <a:t>9</a:t>
            </a:r>
            <a:r>
              <a:rPr lang="zh-CN" altLang="en-US"/>
              <a:t>月</a:t>
            </a:r>
            <a:r>
              <a:rPr lang="en-US" altLang="zh-CN"/>
              <a:t>15</a:t>
            </a:r>
            <a:r>
              <a:rPr lang="zh-CN" altLang="en-US"/>
              <a:t>日后的数据？</a:t>
            </a:r>
            <a:r>
              <a:rPr lang="en-US" altLang="zh-CN"/>
              <a:t>Or</a:t>
            </a:r>
            <a:r>
              <a:rPr lang="zh-CN" altLang="en-US"/>
              <a:t>，</a:t>
            </a:r>
            <a:r>
              <a:rPr lang="en-US" altLang="zh-CN"/>
              <a:t>how many people think this is it ac</a:t>
            </a:r>
            <a:r>
              <a:rPr lang="en-US" altLang="zh-CN"/>
              <a:t>tual problem?</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endParaRPr lang="zh-CN" altLang="en-US"/>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98500" y="2378710"/>
            <a:ext cx="10515600" cy="1325563"/>
          </a:xfrm>
        </p:spPr>
        <p:txBody>
          <a:bodyPr/>
          <a:p>
            <a:r>
              <a:rPr lang="en-US" altLang="zh-CN"/>
              <a:t>Summary on </a:t>
            </a:r>
            <a:endParaRPr lang="en-US" altLang="zh-CN"/>
          </a:p>
        </p:txBody>
      </p:sp>
      <p:sp>
        <p:nvSpPr>
          <p:cNvPr id="3" name="文本框 2"/>
          <p:cNvSpPr txBox="1"/>
          <p:nvPr/>
        </p:nvSpPr>
        <p:spPr>
          <a:xfrm>
            <a:off x="698500" y="6064885"/>
            <a:ext cx="4064000" cy="229870"/>
          </a:xfrm>
          <a:prstGeom prst="rect">
            <a:avLst/>
          </a:prstGeom>
          <a:noFill/>
        </p:spPr>
        <p:txBody>
          <a:bodyPr wrap="square" rtlCol="0">
            <a:spAutoFit/>
          </a:bodyPr>
          <a:p>
            <a:r>
              <a:rPr lang="en-US" altLang="zh-CN" sz="900"/>
              <a:t>Hope you all read this paper...</a:t>
            </a:r>
            <a:endParaRPr lang="en-US" altLang="zh-CN"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Summary(What is Stack Overflow)</a:t>
            </a:r>
            <a:endParaRPr lang="en-US" altLang="zh-CN"/>
          </a:p>
        </p:txBody>
      </p:sp>
      <p:sp>
        <p:nvSpPr>
          <p:cNvPr id="3" name="内容占位符 2"/>
          <p:cNvSpPr>
            <a:spLocks noGrp="1"/>
          </p:cNvSpPr>
          <p:nvPr>
            <p:ph idx="1"/>
          </p:nvPr>
        </p:nvSpPr>
        <p:spPr/>
        <p:txBody>
          <a:bodyPr/>
          <a:p>
            <a:r>
              <a:rPr lang="en-US" altLang="zh-CN" sz="2000"/>
              <a:t>Stack Overflow is a question-and-answer community for programmers, founded in 2008, where users can ask or answer programming-related questions. Each </a:t>
            </a:r>
            <a:r>
              <a:rPr lang="en-US" altLang="zh-CN" sz="2000" b="1"/>
              <a:t>question </a:t>
            </a:r>
            <a:r>
              <a:rPr lang="en-US" altLang="zh-CN" sz="2000"/>
              <a:t>can be tagged (e.g., *python*, *java*, *machine-learning*) .</a:t>
            </a:r>
            <a:endParaRPr lang="en-US" altLang="zh-CN" sz="2000"/>
          </a:p>
          <a:p>
            <a:pPr marL="0" indent="0">
              <a:buNone/>
            </a:pPr>
            <a:endParaRPr lang="en-US" altLang="zh-CN" sz="2000"/>
          </a:p>
        </p:txBody>
      </p:sp>
      <p:pic>
        <p:nvPicPr>
          <p:cNvPr id="5" name="图片 4"/>
          <p:cNvPicPr>
            <a:picLocks noChangeAspect="1"/>
          </p:cNvPicPr>
          <p:nvPr/>
        </p:nvPicPr>
        <p:blipFill>
          <a:blip r:embed="rId1"/>
          <a:stretch>
            <a:fillRect/>
          </a:stretch>
        </p:blipFill>
        <p:spPr>
          <a:xfrm>
            <a:off x="5264150" y="2914650"/>
            <a:ext cx="6418580" cy="3470275"/>
          </a:xfrm>
          <a:prstGeom prst="rect">
            <a:avLst/>
          </a:prstGeom>
        </p:spPr>
      </p:pic>
      <p:pic>
        <p:nvPicPr>
          <p:cNvPr id="6" name="图片 5"/>
          <p:cNvPicPr>
            <a:picLocks noChangeAspect="1"/>
          </p:cNvPicPr>
          <p:nvPr/>
        </p:nvPicPr>
        <p:blipFill>
          <a:blip r:embed="rId2"/>
          <a:stretch>
            <a:fillRect/>
          </a:stretch>
        </p:blipFill>
        <p:spPr>
          <a:xfrm>
            <a:off x="1645285" y="2914650"/>
            <a:ext cx="3221355" cy="33940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Summary</a:t>
            </a:r>
            <a:endParaRPr lang="zh-CN" altLang="en-US"/>
          </a:p>
        </p:txBody>
      </p:sp>
      <p:sp>
        <p:nvSpPr>
          <p:cNvPr id="3" name="内容占位符 2"/>
          <p:cNvSpPr>
            <a:spLocks noGrp="1"/>
          </p:cNvSpPr>
          <p:nvPr>
            <p:ph idx="1"/>
          </p:nvPr>
        </p:nvSpPr>
        <p:spPr/>
        <p:txBody>
          <a:bodyPr>
            <a:normAutofit lnSpcReduction="10000"/>
          </a:bodyPr>
          <a:p>
            <a:r>
              <a:rPr lang="en-US" altLang="zh-CN" sz="2000"/>
              <a:t>The authors analyzed Stack Overflow </a:t>
            </a:r>
            <a:r>
              <a:rPr lang="en-US" altLang="zh-CN" sz="2000" b="1"/>
              <a:t>data from 2008 july to 2010 Sep, </a:t>
            </a:r>
            <a:r>
              <a:rPr lang="en-US" altLang="zh-CN" sz="2000"/>
              <a:t>using an </a:t>
            </a:r>
            <a:r>
              <a:rPr lang="en-US" altLang="zh-CN" sz="2000" b="1"/>
              <a:t>LDA topic model </a:t>
            </a:r>
            <a:r>
              <a:rPr lang="en-US" altLang="zh-CN" sz="2000"/>
              <a:t>to investigate the 4 research questions.</a:t>
            </a:r>
            <a:endParaRPr lang="en-US" altLang="zh-CN" sz="2000"/>
          </a:p>
          <a:p>
            <a:endParaRPr lang="en-US" altLang="zh-CN" sz="2000"/>
          </a:p>
          <a:p>
            <a:r>
              <a:rPr lang="en-US" altLang="zh-CN" sz="2000"/>
              <a:t>RQ1. What are the main discussion topics in Stack Overflow?</a:t>
            </a:r>
            <a:endParaRPr lang="en-US" altLang="zh-CN" sz="2000"/>
          </a:p>
          <a:p>
            <a:r>
              <a:rPr lang="en-US" altLang="zh-CN" sz="2000"/>
              <a:t>RQ2. Does a question in one topic trigger answers in another?</a:t>
            </a:r>
            <a:endParaRPr lang="en-US" altLang="zh-CN" sz="2000"/>
          </a:p>
          <a:p>
            <a:r>
              <a:rPr lang="en-US" altLang="zh-CN" sz="2000"/>
              <a:t>RQ3. How does developer interest change over time?</a:t>
            </a:r>
            <a:endParaRPr lang="en-US" altLang="zh-CN" sz="2000"/>
          </a:p>
          <a:p>
            <a:r>
              <a:rPr lang="en-US" altLang="zh-CN" sz="2000"/>
              <a:t>RQ4. How do the interests in specific technologies change over time?</a:t>
            </a:r>
            <a:endParaRPr lang="en-US" altLang="zh-CN"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2534285"/>
            <a:ext cx="10515600" cy="1325563"/>
          </a:xfrm>
        </p:spPr>
        <p:txBody>
          <a:bodyPr/>
          <a:p>
            <a:r>
              <a:rPr lang="en-US" altLang="zh-CN"/>
              <a:t>Reseach Data and Reseach </a:t>
            </a:r>
            <a:r>
              <a:rPr lang="en-US" altLang="zh-CN">
                <a:sym typeface="+mn-ea"/>
              </a:rPr>
              <a:t>Methodology</a:t>
            </a: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Research Data</a:t>
            </a:r>
            <a:endParaRPr lang="zh-CN" altLang="en-US"/>
          </a:p>
        </p:txBody>
      </p:sp>
      <p:sp>
        <p:nvSpPr>
          <p:cNvPr id="3" name="内容占位符 2"/>
          <p:cNvSpPr>
            <a:spLocks noGrp="1"/>
          </p:cNvSpPr>
          <p:nvPr>
            <p:ph idx="1"/>
          </p:nvPr>
        </p:nvSpPr>
        <p:spPr/>
        <p:txBody>
          <a:bodyPr>
            <a:normAutofit lnSpcReduction="10000"/>
          </a:bodyPr>
          <a:p>
            <a:r>
              <a:rPr lang="en-US" altLang="zh-CN" sz="2000"/>
              <a:t>Authors mentioned that their Stack Overflow dataset spans 27 months, from July 2008 to September 2010.</a:t>
            </a:r>
            <a:endParaRPr lang="en-US" altLang="zh-CN" sz="2000"/>
          </a:p>
          <a:p>
            <a:pPr marL="0" indent="0">
              <a:buNone/>
            </a:pPr>
            <a:endParaRPr lang="en-US" altLang="zh-CN" sz="2000"/>
          </a:p>
        </p:txBody>
      </p:sp>
      <p:pic>
        <p:nvPicPr>
          <p:cNvPr id="6" name="图片 5"/>
          <p:cNvPicPr>
            <a:picLocks noChangeAspect="1"/>
          </p:cNvPicPr>
          <p:nvPr/>
        </p:nvPicPr>
        <p:blipFill>
          <a:blip r:embed="rId1"/>
          <a:stretch>
            <a:fillRect/>
          </a:stretch>
        </p:blipFill>
        <p:spPr>
          <a:xfrm>
            <a:off x="972820" y="2456815"/>
            <a:ext cx="5209540" cy="34753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Discussion 1</a:t>
            </a:r>
            <a:r>
              <a:rPr lang="zh-CN" altLang="en-US">
                <a:sym typeface="+mn-ea"/>
              </a:rPr>
              <a:t>🤔</a:t>
            </a:r>
            <a:r>
              <a:rPr lang="en-US" altLang="zh-CN">
                <a:sym typeface="+mn-ea"/>
              </a:rPr>
              <a:t> :Should the research data start on July 31 or September 15? </a:t>
            </a:r>
            <a:r>
              <a:rPr lang="en-US" altLang="zh-CN">
                <a:sym typeface="+mn-ea"/>
              </a:rPr>
              <a:t>What do you think?</a:t>
            </a:r>
            <a:endParaRPr lang="en-US" altLang="zh-CN">
              <a:sym typeface="+mn-ea"/>
            </a:endParaRPr>
          </a:p>
        </p:txBody>
      </p:sp>
      <p:sp>
        <p:nvSpPr>
          <p:cNvPr id="3" name="内容占位符 2"/>
          <p:cNvSpPr>
            <a:spLocks noGrp="1"/>
          </p:cNvSpPr>
          <p:nvPr>
            <p:ph idx="1"/>
            <p:custDataLst>
              <p:tags r:id="rId1"/>
            </p:custDataLst>
          </p:nvPr>
        </p:nvSpPr>
        <p:spPr>
          <a:xfrm>
            <a:off x="838200" y="1825625"/>
            <a:ext cx="5638800" cy="4351655"/>
          </a:xfrm>
        </p:spPr>
        <p:txBody>
          <a:bodyPr>
            <a:normAutofit lnSpcReduction="20000"/>
          </a:bodyPr>
          <a:p>
            <a:r>
              <a:rPr lang="en-US" altLang="zh-CN" sz="2000">
                <a:sym typeface="+mn-ea"/>
              </a:rPr>
              <a:t>However, Stack Overflow was only opened to the public starting on September 15, and between July 31, 2008 and September 15, 2008 it was in private beta[1][2][3]. This point was </a:t>
            </a:r>
            <a:r>
              <a:rPr lang="en-US" altLang="zh-CN" sz="2000" b="1">
                <a:sym typeface="+mn-ea"/>
              </a:rPr>
              <a:t>not mentioned</a:t>
            </a:r>
            <a:r>
              <a:rPr lang="en-US" altLang="zh-CN" sz="2000">
                <a:sym typeface="+mn-ea"/>
              </a:rPr>
              <a:t> in the paper.</a:t>
            </a:r>
            <a:endParaRPr lang="en-US" altLang="zh-CN" sz="2000"/>
          </a:p>
          <a:p>
            <a:r>
              <a:rPr lang="en-US" altLang="zh-CN" sz="2000" b="1"/>
              <a:t>That is, if you were doing this research, would you drop the data before September 15?</a:t>
            </a:r>
            <a:endParaRPr lang="en-US" altLang="zh-CN" sz="2000" b="1"/>
          </a:p>
          <a:p>
            <a:pPr marL="0" indent="0">
              <a:buNone/>
            </a:pPr>
            <a:endParaRPr lang="zh-CN" altLang="en-US" sz="2000"/>
          </a:p>
          <a:p>
            <a:pPr marL="0" indent="0">
              <a:buNone/>
            </a:pPr>
            <a:endParaRPr lang="en-US" altLang="zh-CN" sz="2000">
              <a:sym typeface="+mn-ea"/>
            </a:endParaRPr>
          </a:p>
          <a:p>
            <a:pPr marL="0" indent="0">
              <a:buNone/>
            </a:pPr>
            <a:endParaRPr lang="en-US" altLang="zh-CN" sz="2000">
              <a:sym typeface="+mn-ea"/>
            </a:endParaRPr>
          </a:p>
          <a:p>
            <a:pPr marL="0" indent="0">
              <a:buNone/>
            </a:pPr>
            <a:endParaRPr lang="en-US" altLang="zh-CN" sz="1400"/>
          </a:p>
          <a:p>
            <a:pPr marL="0" indent="0">
              <a:buNone/>
            </a:pPr>
            <a:endParaRPr lang="en-US" altLang="zh-CN" sz="1400"/>
          </a:p>
          <a:p>
            <a:pPr marL="0" indent="0">
              <a:buNone/>
            </a:pPr>
            <a:endParaRPr lang="en-US" altLang="zh-CN" sz="1400"/>
          </a:p>
          <a:p>
            <a:pPr marL="0" indent="0">
              <a:buNone/>
            </a:pPr>
            <a:r>
              <a:rPr lang="en-US" altLang="zh-CN" sz="700">
                <a:sym typeface="+mn-ea"/>
              </a:rPr>
              <a:t>- [1]https://en.wikipedia.org/wiki/Stack_Overflow</a:t>
            </a:r>
            <a:endParaRPr lang="en-US" altLang="zh-CN" sz="700"/>
          </a:p>
          <a:p>
            <a:pPr marL="0" indent="0">
              <a:buNone/>
            </a:pPr>
            <a:r>
              <a:rPr lang="en-US" altLang="zh-CN" sz="700">
                <a:sym typeface="+mn-ea"/>
              </a:rPr>
              <a:t>- [2]https://stackoverflow.blog/2013/09/16/five-years-ago-stack-overflow-launched-then-a-miracle-occurred/</a:t>
            </a:r>
            <a:endParaRPr lang="en-US" altLang="zh-CN" sz="700">
              <a:sym typeface="+mn-ea"/>
            </a:endParaRPr>
          </a:p>
          <a:p>
            <a:pPr marL="0" indent="0">
              <a:buNone/>
            </a:pPr>
            <a:r>
              <a:rPr lang="en-US" altLang="zh-CN" sz="700">
                <a:sym typeface="+mn-ea"/>
              </a:rPr>
              <a:t>- [3]https://www.joelonsoftware.com/2008/09/15/stack-overflow-launches/</a:t>
            </a:r>
            <a:endParaRPr lang="en-US" altLang="zh-CN" sz="700"/>
          </a:p>
          <a:p>
            <a:pPr marL="0" indent="0">
              <a:buNone/>
            </a:pPr>
            <a:endParaRPr lang="en-US" altLang="zh-CN" sz="700"/>
          </a:p>
        </p:txBody>
      </p:sp>
      <p:pic>
        <p:nvPicPr>
          <p:cNvPr id="4" name="图片 3"/>
          <p:cNvPicPr>
            <a:picLocks noChangeAspect="1"/>
          </p:cNvPicPr>
          <p:nvPr/>
        </p:nvPicPr>
        <p:blipFill>
          <a:blip r:embed="rId2"/>
          <a:stretch>
            <a:fillRect/>
          </a:stretch>
        </p:blipFill>
        <p:spPr>
          <a:xfrm>
            <a:off x="6637655" y="1909445"/>
            <a:ext cx="5209540" cy="3475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extLst>
                                      <p:ext uri="{505F2C04-C923-438B-8C0F-E0CD2BADF298}">
                                        <wppc:dynamicDigit xmlns:wppc="http://www.wps.cn/officeDocument/PresentationCustomData" type="0">
                                          <p:anim to="" calcmode="lin" valueType="num">
                                            <p:cBhvr>
                                              <p:cTn id="7" dur="2000" fill="hold"/>
                                              <p:tgtEl>
                                                <p:spTgt spid="3">
                                                  <p:txEl>
                                                    <p:pRg st="0" end="0"/>
                                                  </p:txEl>
                                                </p:spTgt>
                                              </p:tgtEl>
                                              <p:attrNameLst>
                                                <p:attrName>num.show</p:attrName>
                                              </p:attrNameLst>
                                            </p:cBhvr>
                                            <p:tavLst>
                                              <p:tav tm="0">
                                                <p:val>
                                                  <p:fltVal val="0"/>
                                                </p:val>
                                              </p:tav>
                                              <p:tav tm="100000">
                                                <p:val>
                                                  <p:strVal val="#ppt_v"/>
                                                </p:val>
                                              </p:tav>
                                            </p:tavLst>
                                          </p:anim>
                                        </wppc:dynamicDigit>
                                      </p:ext>
                                    </p:extLs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extLst>
                                      <p:ext uri="{505F2C04-C923-438B-8C0F-E0CD2BADF298}">
                                        <wppc:dynamicDigit xmlns:wppc="http://www.wps.cn/officeDocument/PresentationCustomData" type="0">
                                          <p:anim to="" calcmode="lin" valueType="num">
                                            <p:cBhvr>
                                              <p:cTn id="12" dur="2000" fill="hold"/>
                                              <p:tgtEl>
                                                <p:spTgt spid="3">
                                                  <p:txEl>
                                                    <p:pRg st="1" end="1"/>
                                                  </p:txEl>
                                                </p:spTgt>
                                              </p:tgtEl>
                                              <p:attrNameLst>
                                                <p:attrName>num.show</p:attrName>
                                              </p:attrNameLst>
                                            </p:cBhvr>
                                            <p:tavLst>
                                              <p:tav tm="0">
                                                <p:val>
                                                  <p:fltVal val="0"/>
                                                </p:val>
                                              </p:tav>
                                              <p:tav tm="100000">
                                                <p:val>
                                                  <p:strVal val="#ppt_v"/>
                                                </p:val>
                                              </p:tav>
                                            </p:tavLst>
                                          </p:anim>
                                        </wppc:dynamicDigit>
                                      </p:ext>
                                    </p:extLs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Discussion 1</a:t>
            </a:r>
            <a:r>
              <a:rPr lang="zh-CN" altLang="en-US">
                <a:sym typeface="+mn-ea"/>
              </a:rPr>
              <a:t>🤔</a:t>
            </a:r>
            <a:r>
              <a:rPr lang="en-US" altLang="zh-CN">
                <a:sym typeface="+mn-ea"/>
              </a:rPr>
              <a:t> :Should the research data start on July 31 or September 15? </a:t>
            </a:r>
            <a:r>
              <a:rPr lang="en-US" altLang="zh-CN">
                <a:sym typeface="+mn-ea"/>
              </a:rPr>
              <a:t>What do you think?</a:t>
            </a:r>
            <a:endParaRPr lang="en-US" altLang="zh-CN">
              <a:sym typeface="+mn-ea"/>
            </a:endParaRPr>
          </a:p>
        </p:txBody>
      </p:sp>
      <p:sp>
        <p:nvSpPr>
          <p:cNvPr id="3" name="内容占位符 2"/>
          <p:cNvSpPr>
            <a:spLocks noGrp="1"/>
          </p:cNvSpPr>
          <p:nvPr>
            <p:ph idx="1"/>
            <p:custDataLst>
              <p:tags r:id="rId1"/>
            </p:custDataLst>
          </p:nvPr>
        </p:nvSpPr>
        <p:spPr>
          <a:xfrm>
            <a:off x="838200" y="1825625"/>
            <a:ext cx="6299200" cy="4351655"/>
          </a:xfrm>
        </p:spPr>
        <p:txBody>
          <a:bodyPr>
            <a:normAutofit/>
          </a:bodyPr>
          <a:p>
            <a:r>
              <a:rPr lang="en-US" altLang="zh-CN" sz="1600" b="1"/>
              <a:t>Both approaches could be valid</a:t>
            </a:r>
            <a:endParaRPr lang="en-US" altLang="zh-CN" sz="1600" b="1"/>
          </a:p>
          <a:p>
            <a:r>
              <a:rPr lang="en-US" altLang="zh-CN" sz="1600"/>
              <a:t>We can drop the data before Sep 15(when Stack Overflow </a:t>
            </a:r>
            <a:r>
              <a:rPr lang="en-US" altLang="zh-CN" sz="1600">
                <a:sym typeface="+mn-ea"/>
              </a:rPr>
              <a:t>opened to the public</a:t>
            </a:r>
            <a:r>
              <a:rPr lang="en-US" altLang="zh-CN" sz="1600"/>
              <a:t>), because there is plenty of data after September. We can first focus on analyzing Stack Overflow’s public data after its launch, </a:t>
            </a:r>
            <a:r>
              <a:rPr lang="en-US" altLang="zh-CN" sz="1600" b="1"/>
              <a:t>starting with a simpler dataset</a:t>
            </a:r>
            <a:r>
              <a:rPr lang="en-US" altLang="zh-CN" sz="1600"/>
              <a:t> problem.</a:t>
            </a:r>
            <a:endParaRPr lang="en-US" altLang="zh-CN" sz="1600"/>
          </a:p>
          <a:p>
            <a:r>
              <a:rPr lang="en-US" altLang="zh-CN" sz="1600"/>
              <a:t>Or</a:t>
            </a:r>
            <a:endParaRPr lang="en-US" altLang="zh-CN" sz="1600"/>
          </a:p>
          <a:p>
            <a:r>
              <a:rPr lang="en-US" altLang="zh-CN" sz="1600"/>
              <a:t>We keep this part of the data but perform EDA (Exploratory Data Analysis) on it to </a:t>
            </a:r>
            <a:r>
              <a:rPr lang="en-US" altLang="zh-CN" sz="1600" b="1"/>
              <a:t>check for noise or obvious outliers</a:t>
            </a:r>
            <a:r>
              <a:rPr lang="en-US" altLang="zh-CN" sz="1600"/>
              <a:t>. </a:t>
            </a:r>
            <a:r>
              <a:rPr lang="en-US" altLang="zh-CN" sz="1600" i="1"/>
              <a:t>For example, posts from early August may be limited to a few topics, as during the private beta stage, Stack Overflow’s founders might have only sent invitations to a few friends, whose tech stacks could be limited to a certain range.</a:t>
            </a:r>
            <a:endParaRPr lang="en-US" altLang="zh-CN" sz="1600" i="1"/>
          </a:p>
          <a:p>
            <a:endParaRPr lang="en-US" altLang="zh-CN" sz="2000"/>
          </a:p>
          <a:p>
            <a:pPr marL="0" indent="0">
              <a:buNone/>
            </a:pPr>
            <a:endParaRPr lang="en-US" altLang="zh-CN" sz="2000">
              <a:sym typeface="+mn-ea"/>
            </a:endParaRPr>
          </a:p>
          <a:p>
            <a:pPr marL="0" indent="0">
              <a:buNone/>
            </a:pPr>
            <a:endParaRPr lang="en-US" altLang="zh-CN" sz="2000">
              <a:sym typeface="+mn-ea"/>
            </a:endParaRPr>
          </a:p>
          <a:p>
            <a:pPr marL="0" indent="0">
              <a:buNone/>
            </a:pPr>
            <a:endParaRPr lang="en-US" altLang="zh-CN" sz="1400"/>
          </a:p>
          <a:p>
            <a:pPr marL="0" indent="0">
              <a:buNone/>
            </a:pPr>
            <a:endParaRPr lang="en-US" altLang="zh-CN" sz="1400"/>
          </a:p>
          <a:p>
            <a:pPr marL="0" indent="0">
              <a:buNone/>
            </a:pPr>
            <a:endParaRPr lang="en-US" altLang="zh-CN" sz="1400"/>
          </a:p>
          <a:p>
            <a:pPr marL="0" indent="0">
              <a:buNone/>
            </a:pPr>
            <a:endParaRPr lang="en-US" altLang="zh-CN" sz="1400"/>
          </a:p>
          <a:p>
            <a:pPr marL="0" indent="0">
              <a:buNone/>
            </a:pPr>
            <a:endParaRPr lang="en-US" altLang="zh-CN" sz="1400"/>
          </a:p>
          <a:p>
            <a:pPr marL="0" indent="0">
              <a:buNone/>
            </a:pPr>
            <a:endParaRPr lang="en-US" altLang="zh-CN" sz="32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Research Methodology</a:t>
            </a:r>
            <a:endParaRPr lang="zh-CN" altLang="en-US"/>
          </a:p>
        </p:txBody>
      </p:sp>
      <p:sp>
        <p:nvSpPr>
          <p:cNvPr id="3" name="内容占位符 2"/>
          <p:cNvSpPr>
            <a:spLocks noGrp="1"/>
          </p:cNvSpPr>
          <p:nvPr>
            <p:ph idx="1"/>
          </p:nvPr>
        </p:nvSpPr>
        <p:spPr/>
        <p:txBody>
          <a:bodyPr>
            <a:normAutofit lnSpcReduction="10000"/>
          </a:bodyPr>
          <a:p>
            <a:r>
              <a:rPr lang="en-US" altLang="zh-CN" sz="2000"/>
              <a:t>The authors analyzed Stack Overflow </a:t>
            </a:r>
            <a:r>
              <a:rPr lang="en-US" altLang="zh-CN" sz="2000" b="1"/>
              <a:t>data from 2008 to 2010,</a:t>
            </a:r>
            <a:r>
              <a:rPr lang="en-US" altLang="zh-CN" sz="2000"/>
              <a:t> using an</a:t>
            </a:r>
            <a:r>
              <a:rPr lang="en-US" altLang="zh-CN" sz="2000" b="1"/>
              <a:t> LDA topic model</a:t>
            </a:r>
            <a:r>
              <a:rPr lang="en-US" altLang="zh-CN" sz="2000"/>
              <a:t> to investigate the 4 research questions.</a:t>
            </a:r>
            <a:endParaRPr lang="en-US" altLang="zh-CN" sz="2000"/>
          </a:p>
          <a:p>
            <a:r>
              <a:rPr lang="en-US" altLang="zh-CN" sz="2000"/>
              <a:t>Post extraction and Pre-processing </a:t>
            </a:r>
            <a:r>
              <a:rPr lang="en-US" altLang="zh-CN" sz="2000" b="1"/>
              <a:t>output</a:t>
            </a:r>
            <a:r>
              <a:rPr lang="en-US" altLang="zh-CN" sz="2000"/>
              <a:t>: Remove HTML tags, stop words, maintain metadata: post type,timestamp..</a:t>
            </a:r>
            <a:endParaRPr lang="en-US" altLang="zh-CN" sz="2000"/>
          </a:p>
          <a:p>
            <a:r>
              <a:rPr lang="en-US" altLang="zh-CN" sz="2000"/>
              <a:t>LDA </a:t>
            </a:r>
            <a:r>
              <a:rPr lang="en-US" altLang="zh-CN" sz="2000" b="1"/>
              <a:t>output</a:t>
            </a:r>
            <a:r>
              <a:rPr lang="en-US" altLang="zh-CN" sz="2000"/>
              <a:t>: topic membership vectors for each post.(</a:t>
            </a:r>
            <a:r>
              <a:rPr lang="en-US" altLang="zh-CN" sz="2000">
                <a:sym typeface="+mn-ea"/>
              </a:rPr>
              <a:t>K=40 number of topics</a:t>
            </a:r>
            <a:r>
              <a:rPr lang="en-US" altLang="zh-CN" sz="2000"/>
              <a:t>)</a:t>
            </a:r>
            <a:endParaRPr lang="en-US" altLang="zh-CN" sz="2000"/>
          </a:p>
          <a:p>
            <a:r>
              <a:rPr lang="en-US" altLang="zh-CN" sz="2000"/>
              <a:t>Post-processing:Metrics including Topic share (RQ1),Topic relationships (RQ2). Topic trends over time (RQ3),Technology trends over time (RQ4).</a:t>
            </a:r>
            <a:endParaRPr lang="en-US" altLang="zh-CN" sz="2000"/>
          </a:p>
          <a:p>
            <a:endParaRPr lang="en-US" altLang="zh-CN" sz="2000"/>
          </a:p>
          <a:p>
            <a:pPr marL="0" indent="0">
              <a:buNone/>
            </a:pPr>
            <a:endParaRPr lang="en-US" altLang="zh-CN" sz="2000"/>
          </a:p>
        </p:txBody>
      </p:sp>
      <p:pic>
        <p:nvPicPr>
          <p:cNvPr id="4" name="内容占位符 3"/>
          <p:cNvPicPr>
            <a:picLocks noChangeAspect="1"/>
          </p:cNvPicPr>
          <p:nvPr/>
        </p:nvPicPr>
        <p:blipFill>
          <a:blip r:embed="rId1"/>
          <a:stretch>
            <a:fillRect/>
          </a:stretch>
        </p:blipFill>
        <p:spPr>
          <a:xfrm>
            <a:off x="1061720" y="4048125"/>
            <a:ext cx="8557895" cy="23120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2800">
                <a:sym typeface="+mn-ea"/>
              </a:rPr>
              <a:t>Discussion 2</a:t>
            </a:r>
            <a:r>
              <a:rPr lang="zh-CN" altLang="en-US" sz="2800">
                <a:sym typeface="+mn-ea"/>
              </a:rPr>
              <a:t>🤔</a:t>
            </a:r>
            <a:r>
              <a:rPr lang="en-US" altLang="zh-CN" sz="2800">
                <a:sym typeface="+mn-ea"/>
              </a:rPr>
              <a:t> :</a:t>
            </a:r>
            <a:r>
              <a:rPr lang="en-US" altLang="zh-CN" sz="2800"/>
              <a:t>If the authors had directly used Stack Overflow’s user-generated tags as the topics for analysis, instead of applying LDA(which generated 40 topics), what problems could that cause?</a:t>
            </a:r>
            <a:endParaRPr lang="en-US" altLang="zh-CN" sz="2800"/>
          </a:p>
        </p:txBody>
      </p:sp>
      <p:sp>
        <p:nvSpPr>
          <p:cNvPr id="3" name="内容占位符 2"/>
          <p:cNvSpPr>
            <a:spLocks noGrp="1"/>
          </p:cNvSpPr>
          <p:nvPr>
            <p:ph idx="1"/>
          </p:nvPr>
        </p:nvSpPr>
        <p:spPr/>
        <p:txBody>
          <a:bodyPr>
            <a:normAutofit lnSpcReduction="10000"/>
          </a:bodyPr>
          <a:p>
            <a:endParaRPr lang="en-US" altLang="zh-CN" sz="2000"/>
          </a:p>
          <a:p>
            <a:pPr marL="0" indent="0">
              <a:buNone/>
            </a:pPr>
            <a:endParaRPr lang="en-US" altLang="zh-CN" sz="2000"/>
          </a:p>
        </p:txBody>
      </p:sp>
      <p:pic>
        <p:nvPicPr>
          <p:cNvPr id="6" name="图片 5"/>
          <p:cNvPicPr>
            <a:picLocks noChangeAspect="1"/>
          </p:cNvPicPr>
          <p:nvPr/>
        </p:nvPicPr>
        <p:blipFill>
          <a:blip r:embed="rId1"/>
          <a:stretch>
            <a:fillRect/>
          </a:stretch>
        </p:blipFill>
        <p:spPr>
          <a:xfrm>
            <a:off x="1359535" y="2044700"/>
            <a:ext cx="3221355" cy="3394075"/>
          </a:xfrm>
          <a:prstGeom prst="rect">
            <a:avLst/>
          </a:prstGeom>
        </p:spPr>
      </p:pic>
      <p:sp>
        <p:nvSpPr>
          <p:cNvPr id="5" name="文本框 4"/>
          <p:cNvSpPr txBox="1"/>
          <p:nvPr/>
        </p:nvSpPr>
        <p:spPr>
          <a:xfrm>
            <a:off x="1133475" y="5532120"/>
            <a:ext cx="4064000" cy="645160"/>
          </a:xfrm>
          <a:prstGeom prst="rect">
            <a:avLst/>
          </a:prstGeom>
          <a:noFill/>
        </p:spPr>
        <p:txBody>
          <a:bodyPr wrap="square" rtlCol="0">
            <a:spAutoFit/>
          </a:bodyPr>
          <a:p>
            <a:r>
              <a:rPr lang="en-US" altLang="zh-CN">
                <a:sym typeface="+mn-ea"/>
              </a:rPr>
              <a:t>Directly used Stack Overflow’s user-generated tags</a:t>
            </a:r>
            <a:endParaRPr lang="zh-CN" altLang="en-US"/>
          </a:p>
        </p:txBody>
      </p:sp>
      <p:sp>
        <p:nvSpPr>
          <p:cNvPr id="7" name="文本框 6"/>
          <p:cNvSpPr txBox="1"/>
          <p:nvPr/>
        </p:nvSpPr>
        <p:spPr>
          <a:xfrm>
            <a:off x="5296535" y="3420110"/>
            <a:ext cx="942340" cy="368300"/>
          </a:xfrm>
          <a:prstGeom prst="rect">
            <a:avLst/>
          </a:prstGeom>
          <a:noFill/>
        </p:spPr>
        <p:txBody>
          <a:bodyPr wrap="square" rtlCol="0">
            <a:spAutoFit/>
            <a:scene3d>
              <a:camera prst="orthographicFront"/>
              <a:lightRig rig="threePt" dir="t"/>
            </a:scene3d>
          </a:bodyPr>
          <a:p>
            <a:r>
              <a:rPr lang="en-US" altLang="zh-CN">
                <a:solidFill>
                  <a:schemeClr val="tx1"/>
                </a:solidFill>
                <a:effectLst>
                  <a:outerShdw blurRad="38100" dist="19050" dir="2700000" algn="tl" rotWithShape="0">
                    <a:schemeClr val="dk1">
                      <a:alpha val="40000"/>
                    </a:schemeClr>
                  </a:outerShdw>
                </a:effectLst>
              </a:rPr>
              <a:t>VS</a:t>
            </a:r>
            <a:endParaRPr lang="en-US" altLang="zh-CN">
              <a:solidFill>
                <a:schemeClr val="tx1"/>
              </a:solidFill>
              <a:effectLst>
                <a:outerShdw blurRad="38100" dist="19050" dir="2700000" algn="tl" rotWithShape="0">
                  <a:schemeClr val="dk1">
                    <a:alpha val="40000"/>
                  </a:schemeClr>
                </a:outerShdw>
              </a:effectLst>
            </a:endParaRPr>
          </a:p>
        </p:txBody>
      </p:sp>
      <p:pic>
        <p:nvPicPr>
          <p:cNvPr id="8" name="图片 7"/>
          <p:cNvPicPr>
            <a:picLocks noChangeAspect="1"/>
          </p:cNvPicPr>
          <p:nvPr/>
        </p:nvPicPr>
        <p:blipFill>
          <a:blip r:embed="rId2"/>
          <a:stretch>
            <a:fillRect/>
          </a:stretch>
        </p:blipFill>
        <p:spPr>
          <a:xfrm>
            <a:off x="6639560" y="2499360"/>
            <a:ext cx="3406140" cy="2209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2800">
                <a:sym typeface="+mn-ea"/>
              </a:rPr>
              <a:t>Discussion 2</a:t>
            </a:r>
            <a:r>
              <a:rPr lang="zh-CN" altLang="en-US" sz="2800">
                <a:sym typeface="+mn-ea"/>
              </a:rPr>
              <a:t>🤔</a:t>
            </a:r>
            <a:r>
              <a:rPr lang="en-US" altLang="zh-CN" sz="2800">
                <a:sym typeface="+mn-ea"/>
              </a:rPr>
              <a:t> :</a:t>
            </a:r>
            <a:r>
              <a:rPr lang="en-US" altLang="zh-CN" sz="2800"/>
              <a:t>If the authors had directly used Stack Overflow’s user-generated tags as the topics for analysis, instead of applying LDA(which generated 40 topics), what problems could that cause?</a:t>
            </a:r>
            <a:endParaRPr lang="en-US" altLang="zh-CN" sz="2800"/>
          </a:p>
        </p:txBody>
      </p:sp>
      <p:sp>
        <p:nvSpPr>
          <p:cNvPr id="3" name="内容占位符 2"/>
          <p:cNvSpPr>
            <a:spLocks noGrp="1"/>
          </p:cNvSpPr>
          <p:nvPr>
            <p:ph idx="1"/>
          </p:nvPr>
        </p:nvSpPr>
        <p:spPr/>
        <p:txBody>
          <a:bodyPr>
            <a:normAutofit lnSpcReduction="10000"/>
          </a:bodyPr>
          <a:p>
            <a:r>
              <a:rPr lang="en-US" altLang="zh-CN" sz="2000" b="1"/>
              <a:t>Only questions have user tags.</a:t>
            </a:r>
            <a:r>
              <a:rPr lang="en-US" altLang="zh-CN" sz="2000"/>
              <a:t> Only 28% are questions.</a:t>
            </a:r>
            <a:endParaRPr lang="en-US" altLang="zh-CN" sz="2000" b="1"/>
          </a:p>
          <a:p>
            <a:r>
              <a:rPr lang="en-US" altLang="zh-CN" sz="2000" b="1"/>
              <a:t>Too many </a:t>
            </a:r>
            <a:r>
              <a:rPr lang="en-US" altLang="zh-CN" sz="2000" b="1">
                <a:sym typeface="+mn-ea"/>
              </a:rPr>
              <a:t>user tags</a:t>
            </a:r>
            <a:r>
              <a:rPr lang="en-US" altLang="zh-CN" sz="2000" b="1"/>
              <a:t>.</a:t>
            </a:r>
            <a:r>
              <a:rPr lang="en-US" altLang="zh-CN" sz="2000"/>
              <a:t> User tags are freely entered,and their expressions are not always same(</a:t>
            </a:r>
            <a:r>
              <a:rPr lang="en-US" altLang="zh-CN" sz="2000" i="1"/>
              <a:t>for example, C++, cpp, and C Plus Plus refer to the same topic</a:t>
            </a:r>
            <a:r>
              <a:rPr lang="en-US" altLang="zh-CN" sz="2000"/>
              <a:t>). This leads to </a:t>
            </a:r>
            <a:r>
              <a:rPr lang="en-US" altLang="zh-CN" sz="2000">
                <a:sym typeface="+mn-ea"/>
              </a:rPr>
              <a:t>thousands of topics</a:t>
            </a:r>
            <a:r>
              <a:rPr lang="en-US" altLang="zh-CN" sz="2000"/>
              <a:t>, making it difficult to aggregate them into representative results.</a:t>
            </a:r>
            <a:endParaRPr lang="en-US" altLang="zh-CN" sz="2000"/>
          </a:p>
          <a:p>
            <a:r>
              <a:rPr lang="en-US" altLang="zh-CN" sz="2000" b="1"/>
              <a:t>User Tags might be subjective and noisy</a:t>
            </a:r>
            <a:r>
              <a:rPr lang="en-US" altLang="zh-CN" sz="2000"/>
              <a:t>. Spelling mistakes,vague meanings,even unrelated to the question</a:t>
            </a:r>
            <a:endParaRPr lang="en-US" altLang="zh-CN" sz="2000"/>
          </a:p>
          <a:p>
            <a:r>
              <a:rPr lang="en-US" altLang="zh-CN" sz="2000" b="1"/>
              <a:t>The tagging system is unstable.</a:t>
            </a:r>
            <a:r>
              <a:rPr lang="en-US" altLang="zh-CN" sz="2000"/>
              <a:t>When new technologies appear, users may create new tags(Mysql/Apache Hive) while old tags(Oracle) are phased out, causing inconsistencies across time periods</a:t>
            </a:r>
            <a:r>
              <a:rPr lang="en-US" altLang="zh-CN" sz="2000" b="1"/>
              <a:t>.</a:t>
            </a:r>
            <a:endParaRPr lang="en-US" altLang="zh-CN" sz="20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2766060"/>
            <a:ext cx="10515600" cy="1325563"/>
          </a:xfrm>
        </p:spPr>
        <p:txBody>
          <a:bodyPr>
            <a:normAutofit fontScale="90000"/>
          </a:bodyPr>
          <a:p>
            <a:r>
              <a:rPr lang="en-US" altLang="zh-CN">
                <a:sym typeface="+mn-ea"/>
              </a:rPr>
              <a:t>After reading this paper, what do we now know that we did not know before?</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The authors drew conclusions based on four research questions.</a:t>
            </a:r>
            <a:endParaRPr lang="en-US" altLang="zh-CN"/>
          </a:p>
        </p:txBody>
      </p:sp>
      <p:sp>
        <p:nvSpPr>
          <p:cNvPr id="3" name="内容占位符 2"/>
          <p:cNvSpPr>
            <a:spLocks noGrp="1"/>
          </p:cNvSpPr>
          <p:nvPr>
            <p:ph idx="1"/>
          </p:nvPr>
        </p:nvSpPr>
        <p:spPr/>
        <p:txBody>
          <a:bodyPr/>
          <a:p>
            <a:r>
              <a:rPr lang="en-US" altLang="zh-CN">
                <a:sym typeface="+mn-ea"/>
              </a:rPr>
              <a:t>RQ1. What are the main discussion topics in Stack Overflow?</a:t>
            </a:r>
            <a:endParaRPr lang="en-US" altLang="zh-CN"/>
          </a:p>
          <a:p>
            <a:r>
              <a:rPr lang="en-US" altLang="zh-CN">
                <a:sym typeface="+mn-ea"/>
              </a:rPr>
              <a:t>RQ2. Does a question in one topic trigger answers in another?</a:t>
            </a:r>
            <a:endParaRPr lang="en-US" altLang="zh-CN"/>
          </a:p>
          <a:p>
            <a:r>
              <a:rPr lang="en-US" altLang="zh-CN">
                <a:sym typeface="+mn-ea"/>
              </a:rPr>
              <a:t>RQ3. How does developer interest change over time?</a:t>
            </a:r>
            <a:endParaRPr lang="en-US" altLang="zh-CN"/>
          </a:p>
          <a:p>
            <a:r>
              <a:rPr lang="en-US" altLang="zh-CN">
                <a:sym typeface="+mn-ea"/>
              </a:rPr>
              <a:t>RQ4. How do the interests in specific technologies change over time?</a:t>
            </a:r>
            <a:endParaRPr lang="en-US" altLang="zh-CN"/>
          </a:p>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RQ1: What are the main discussion topics in Stack Overflow?</a:t>
            </a:r>
            <a:endParaRPr lang="zh-CN" altLang="en-US"/>
          </a:p>
        </p:txBody>
      </p:sp>
      <p:sp>
        <p:nvSpPr>
          <p:cNvPr id="3" name="内容占位符 2"/>
          <p:cNvSpPr>
            <a:spLocks noGrp="1"/>
          </p:cNvSpPr>
          <p:nvPr>
            <p:ph idx="1"/>
          </p:nvPr>
        </p:nvSpPr>
        <p:spPr>
          <a:xfrm>
            <a:off x="838200" y="1571625"/>
            <a:ext cx="10515600" cy="4351338"/>
          </a:xfrm>
        </p:spPr>
        <p:txBody>
          <a:bodyPr/>
          <a:p>
            <a:r>
              <a:rPr lang="en-US" altLang="zh-CN" sz="2000"/>
              <a:t>Mostly about technology,web/mobile development,database.</a:t>
            </a:r>
            <a:endParaRPr lang="en-US" altLang="zh-CN" sz="2000"/>
          </a:p>
          <a:p>
            <a:r>
              <a:rPr lang="en-US" altLang="zh-CN" sz="2000"/>
              <a:t>A few other topics like job experience. </a:t>
            </a:r>
            <a:endParaRPr lang="en-US" altLang="zh-CN" sz="2000"/>
          </a:p>
        </p:txBody>
      </p:sp>
      <p:pic>
        <p:nvPicPr>
          <p:cNvPr id="4" name="图片 3"/>
          <p:cNvPicPr>
            <a:picLocks noChangeAspect="1"/>
          </p:cNvPicPr>
          <p:nvPr/>
        </p:nvPicPr>
        <p:blipFill>
          <a:blip r:embed="rId1"/>
          <a:stretch>
            <a:fillRect/>
          </a:stretch>
        </p:blipFill>
        <p:spPr>
          <a:xfrm>
            <a:off x="7515860" y="1318260"/>
            <a:ext cx="3520440" cy="5013960"/>
          </a:xfrm>
          <a:prstGeom prst="rect">
            <a:avLst/>
          </a:prstGeom>
        </p:spPr>
      </p:pic>
      <p:pic>
        <p:nvPicPr>
          <p:cNvPr id="5" name="图片 4"/>
          <p:cNvPicPr>
            <a:picLocks noChangeAspect="1"/>
          </p:cNvPicPr>
          <p:nvPr/>
        </p:nvPicPr>
        <p:blipFill>
          <a:blip r:embed="rId2"/>
          <a:stretch>
            <a:fillRect/>
          </a:stretch>
        </p:blipFill>
        <p:spPr>
          <a:xfrm>
            <a:off x="1127760" y="3430905"/>
            <a:ext cx="5569585" cy="29013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RQ2:Does a question in one topic trigger answers in another?</a:t>
            </a:r>
            <a:endParaRPr lang="zh-CN" altLang="en-US"/>
          </a:p>
        </p:txBody>
      </p:sp>
      <p:pic>
        <p:nvPicPr>
          <p:cNvPr id="5" name="内容占位符 4"/>
          <p:cNvPicPr>
            <a:picLocks noChangeAspect="1"/>
          </p:cNvPicPr>
          <p:nvPr>
            <p:ph idx="1"/>
          </p:nvPr>
        </p:nvPicPr>
        <p:blipFill>
          <a:blip r:embed="rId1"/>
          <a:stretch>
            <a:fillRect/>
          </a:stretch>
        </p:blipFill>
        <p:spPr>
          <a:xfrm>
            <a:off x="5694045" y="1884680"/>
            <a:ext cx="6097270" cy="2491105"/>
          </a:xfrm>
          <a:prstGeom prst="rect">
            <a:avLst/>
          </a:prstGeom>
        </p:spPr>
      </p:pic>
      <p:sp>
        <p:nvSpPr>
          <p:cNvPr id="9" name="文本框 8"/>
          <p:cNvSpPr txBox="1"/>
          <p:nvPr/>
        </p:nvSpPr>
        <p:spPr>
          <a:xfrm>
            <a:off x="899160" y="1884680"/>
            <a:ext cx="4378960" cy="2861310"/>
          </a:xfrm>
          <a:prstGeom prst="rect">
            <a:avLst/>
          </a:prstGeom>
          <a:noFill/>
        </p:spPr>
        <p:txBody>
          <a:bodyPr wrap="square" rtlCol="0">
            <a:spAutoFit/>
          </a:bodyPr>
          <a:p>
            <a:pPr marL="285750" indent="-285750">
              <a:buFont typeface="Arial" panose="020B0604020202020204" pitchFamily="34" charset="0"/>
              <a:buChar char="•"/>
            </a:pPr>
            <a:r>
              <a:rPr lang="en-US" altLang="zh-CN"/>
              <a:t>Literally,the topic of the question is </a:t>
            </a:r>
            <a:r>
              <a:rPr lang="en-US" altLang="zh-CN" b="1"/>
              <a:t>mobile development. But </a:t>
            </a:r>
            <a:r>
              <a:rPr lang="en-US" altLang="zh-CN"/>
              <a:t>what the user is really seeking might be </a:t>
            </a:r>
            <a:r>
              <a:rPr lang="en-US" altLang="zh-CN" b="1"/>
              <a:t>others’ experiences</a:t>
            </a:r>
            <a:r>
              <a:rPr lang="en-US" altLang="zh-CN"/>
              <a:t> on making money from software development.</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en-US" altLang="zh-CN"/>
              <a:t>Literally, LDA identifies the topic as related to </a:t>
            </a:r>
            <a:r>
              <a:rPr lang="en-US" altLang="zh-CN" b="1"/>
              <a:t>job experience</a:t>
            </a:r>
            <a:r>
              <a:rPr lang="en-US" altLang="zh-CN"/>
              <a:t>, and the answer is advice based on the respondent’s own work experience.</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RQ2:Does a question in one topic trigger answers in another?</a:t>
            </a:r>
            <a:endParaRPr lang="zh-CN" altLang="en-US"/>
          </a:p>
        </p:txBody>
      </p:sp>
      <p:pic>
        <p:nvPicPr>
          <p:cNvPr id="4" name="图片 3"/>
          <p:cNvPicPr>
            <a:picLocks noChangeAspect="1"/>
          </p:cNvPicPr>
          <p:nvPr/>
        </p:nvPicPr>
        <p:blipFill>
          <a:blip r:embed="rId1"/>
          <a:stretch>
            <a:fillRect/>
          </a:stretch>
        </p:blipFill>
        <p:spPr>
          <a:xfrm>
            <a:off x="7701280" y="1968500"/>
            <a:ext cx="3291840" cy="4533900"/>
          </a:xfrm>
          <a:prstGeom prst="rect">
            <a:avLst/>
          </a:prstGeom>
        </p:spPr>
      </p:pic>
      <p:sp>
        <p:nvSpPr>
          <p:cNvPr id="3" name="内容占位符 2"/>
          <p:cNvSpPr/>
          <p:nvPr>
            <p:ph idx="1"/>
          </p:nvPr>
        </p:nvSpPr>
        <p:spPr>
          <a:xfrm>
            <a:off x="838200" y="1825625"/>
            <a:ext cx="6863080" cy="4351655"/>
          </a:xfrm>
        </p:spPr>
        <p:txBody>
          <a:bodyPr/>
          <a:p>
            <a:r>
              <a:rPr lang="en-US" altLang="zh-CN" sz="1600"/>
              <a:t>The authors selected 10 different question topics, such as web development, and then analyzed the topics of the answers for each question topic.</a:t>
            </a:r>
            <a:endParaRPr lang="en-US" altLang="zh-CN" sz="1600"/>
          </a:p>
          <a:p>
            <a:endParaRPr lang="en-US" altLang="zh-CN" sz="1600"/>
          </a:p>
          <a:p>
            <a:r>
              <a:rPr lang="en-US" altLang="zh-CN" sz="1600"/>
              <a:t>Interestingly, for some questions topic including </a:t>
            </a:r>
            <a:r>
              <a:rPr lang="en-US" altLang="zh-CN" sz="1600" b="1"/>
              <a:t>mobile development, testing, security/authentication, and version control</a:t>
            </a:r>
            <a:r>
              <a:rPr lang="en-US" altLang="zh-CN" sz="1600"/>
              <a:t>, some of the answers were on the topic of jobs/</a:t>
            </a:r>
            <a:r>
              <a:rPr lang="en-US" altLang="zh-CN" sz="1600" b="1"/>
              <a:t>experience</a:t>
            </a:r>
            <a:r>
              <a:rPr lang="en-US" altLang="zh-CN" sz="1600"/>
              <a:t>.</a:t>
            </a:r>
            <a:endParaRPr lang="en-US" altLang="zh-CN" sz="1600"/>
          </a:p>
          <a:p>
            <a:endParaRPr lang="en-US" altLang="zh-CN" sz="1600"/>
          </a:p>
          <a:p>
            <a:r>
              <a:rPr lang="en-US" altLang="zh-CN" sz="1600" b="1"/>
              <a:t>Intuitively</a:t>
            </a:r>
            <a:r>
              <a:rPr lang="en-US" altLang="zh-CN" sz="1600"/>
              <a:t>, this may be because </a:t>
            </a:r>
            <a:r>
              <a:rPr lang="en-US" altLang="zh-CN" sz="1600" b="1"/>
              <a:t>security and testing</a:t>
            </a:r>
            <a:r>
              <a:rPr lang="en-US" altLang="zh-CN" sz="1600"/>
              <a:t> are not limited to a specific tech stack (frontend, backend, mobile, or web), and therefore answers often need to draw on personal experience. </a:t>
            </a:r>
            <a:endParaRPr lang="en-US" altLang="zh-CN" sz="1600"/>
          </a:p>
          <a:p>
            <a:r>
              <a:rPr lang="en-US" altLang="zh-CN" sz="1600"/>
              <a:t>Meanwhile, from 2008 to 2011, </a:t>
            </a:r>
            <a:r>
              <a:rPr lang="en-US" altLang="zh-CN" sz="1600" b="1"/>
              <a:t>mobile development and version control </a:t>
            </a:r>
            <a:r>
              <a:rPr lang="en-US" altLang="zh-CN" sz="1600"/>
              <a:t>(especially with Git starting to surpass SVN) grew rapidly, so respondents might have been more willing to share these new technologies based on their own experience.</a:t>
            </a:r>
            <a:endParaRPr lang="en-US" altLang="zh-CN"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Discussion 3</a:t>
            </a:r>
            <a:r>
              <a:rPr lang="zh-CN" altLang="en-US">
                <a:sym typeface="+mn-ea"/>
              </a:rPr>
              <a:t>🤔</a:t>
            </a:r>
            <a:r>
              <a:rPr lang="en-US" altLang="zh-CN">
                <a:sym typeface="+mn-ea"/>
              </a:rPr>
              <a:t> , what if K changed?</a:t>
            </a:r>
            <a:endParaRPr lang="zh-CN" altLang="en-US"/>
          </a:p>
        </p:txBody>
      </p:sp>
      <p:sp>
        <p:nvSpPr>
          <p:cNvPr id="3" name="内容占位符 2"/>
          <p:cNvSpPr>
            <a:spLocks noGrp="1"/>
          </p:cNvSpPr>
          <p:nvPr>
            <p:ph idx="1"/>
          </p:nvPr>
        </p:nvSpPr>
        <p:spPr/>
        <p:txBody>
          <a:bodyPr/>
          <a:p>
            <a:r>
              <a:rPr lang="en-US" altLang="zh-CN" sz="1800"/>
              <a:t>If the number of LDA topics (K) were decreased or increased significantly, how might that affect the discovery and interpretation of RQ2?</a:t>
            </a:r>
            <a:endParaRPr lang="en-US" altLang="zh-CN" sz="1800"/>
          </a:p>
          <a:p>
            <a:endParaRPr lang="en-US" altLang="zh-CN" sz="1800"/>
          </a:p>
          <a:p>
            <a:r>
              <a:rPr lang="en-US" altLang="zh-CN" sz="1800"/>
              <a:t>If the K value is too small, the topics of answer posts may become more closer to the question topic, making the phenomenon of “a question in one topic triggering answers in another” less frequent and harder to observe.</a:t>
            </a:r>
            <a:endParaRPr lang="en-US" altLang="zh-CN" sz="1800"/>
          </a:p>
          <a:p>
            <a:endParaRPr lang="en-US" altLang="zh-CN" sz="1800"/>
          </a:p>
          <a:p>
            <a:r>
              <a:rPr lang="en-US" altLang="zh-CN" sz="1800"/>
              <a:t>If the K value is too large, the topics of the answers may become overly fine-grained, making this phenomenon more noticeable, but potentially introducing more noise.</a:t>
            </a:r>
            <a:endParaRPr lang="en-US" altLang="zh-CN"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RQ3. How does developer interest change over time?</a:t>
            </a:r>
            <a:endParaRPr lang="zh-CN" altLang="en-US"/>
          </a:p>
        </p:txBody>
      </p:sp>
      <p:pic>
        <p:nvPicPr>
          <p:cNvPr id="4" name="图片 3"/>
          <p:cNvPicPr>
            <a:picLocks noChangeAspect="1"/>
          </p:cNvPicPr>
          <p:nvPr/>
        </p:nvPicPr>
        <p:blipFill>
          <a:blip r:embed="rId1"/>
          <a:stretch>
            <a:fillRect/>
          </a:stretch>
        </p:blipFill>
        <p:spPr>
          <a:xfrm>
            <a:off x="4017645" y="1063625"/>
            <a:ext cx="6521450" cy="53721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RQ4. How do the interests in specific technologies change over time?</a:t>
            </a:r>
            <a:endParaRPr lang="zh-CN" altLang="en-US"/>
          </a:p>
        </p:txBody>
      </p:sp>
      <p:pic>
        <p:nvPicPr>
          <p:cNvPr id="4" name="图片 3"/>
          <p:cNvPicPr>
            <a:picLocks noChangeAspect="1"/>
          </p:cNvPicPr>
          <p:nvPr/>
        </p:nvPicPr>
        <p:blipFill>
          <a:blip r:embed="rId1"/>
          <a:stretch>
            <a:fillRect/>
          </a:stretch>
        </p:blipFill>
        <p:spPr>
          <a:xfrm>
            <a:off x="5467985" y="1069975"/>
            <a:ext cx="4904105" cy="5651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What is the most questionable issue of the paper?</a:t>
            </a:r>
            <a:endParaRPr lang="en-US" altLang="zh-CN"/>
          </a:p>
        </p:txBody>
      </p:sp>
      <p:sp>
        <p:nvSpPr>
          <p:cNvPr id="3" name="内容占位符 2"/>
          <p:cNvSpPr>
            <a:spLocks noGrp="1"/>
          </p:cNvSpPr>
          <p:nvPr>
            <p:ph idx="1"/>
          </p:nvPr>
        </p:nvSpPr>
        <p:spPr/>
        <p:txBody>
          <a:bodyPr/>
          <a:p>
            <a:r>
              <a:rPr lang="en-US" altLang="zh-CN" sz="2000"/>
              <a:t>In the paper, K is an LDA </a:t>
            </a:r>
            <a:r>
              <a:rPr lang="en-US" altLang="zh-CN" sz="2000" b="1"/>
              <a:t>hyperparameter</a:t>
            </a:r>
            <a:r>
              <a:rPr lang="en-US" altLang="zh-CN" sz="2000"/>
              <a:t>. </a:t>
            </a:r>
            <a:endParaRPr lang="en-US" altLang="zh-CN" sz="2000"/>
          </a:p>
          <a:p>
            <a:endParaRPr lang="en-US" altLang="zh-CN" sz="2000"/>
          </a:p>
          <a:p>
            <a:r>
              <a:rPr lang="en-US" altLang="zh-CN" sz="2000"/>
              <a:t>The authors only briefly mention that K = 40 is the optimal value,and mention tat choosing the hyperparameter K is very challenging, and they are not certain whether the chosen K value is optimal.</a:t>
            </a:r>
            <a:endParaRPr lang="en-US" altLang="zh-CN" sz="2000"/>
          </a:p>
          <a:p>
            <a:endParaRPr lang="en-US" altLang="zh-CN" sz="2000"/>
          </a:p>
          <a:p>
            <a:r>
              <a:rPr lang="en-US" altLang="zh-CN" sz="2000"/>
              <a:t>However, they are still able to compare the effects of having K too large or too small on the 4 research questions.</a:t>
            </a:r>
            <a:endParaRPr lang="en-US" altLang="zh-CN"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Are the reported conclusions generalizable?</a:t>
            </a:r>
            <a:endParaRPr lang="en-US" altLang="zh-CN"/>
          </a:p>
        </p:txBody>
      </p:sp>
      <p:sp>
        <p:nvSpPr>
          <p:cNvPr id="3" name="内容占位符 2"/>
          <p:cNvSpPr>
            <a:spLocks noGrp="1"/>
          </p:cNvSpPr>
          <p:nvPr>
            <p:ph idx="1"/>
          </p:nvPr>
        </p:nvSpPr>
        <p:spPr/>
        <p:txBody>
          <a:bodyPr/>
          <a:p>
            <a:r>
              <a:rPr lang="en-US" altLang="zh-CN" sz="2000"/>
              <a:t>This study is primarily based on Stack Overflow, and if another Q&amp;A site were used or a different K value were chosen, the conclusions might not be the same. </a:t>
            </a:r>
            <a:endParaRPr lang="en-US" altLang="zh-CN" sz="2000"/>
          </a:p>
          <a:p>
            <a:r>
              <a:rPr lang="en-US" altLang="zh-CN" sz="2000"/>
              <a:t>The dataset mainly covers the period from 2008 to 2010, and in a few years, using different data, the conclusions could change.</a:t>
            </a:r>
            <a:endParaRPr lang="en-US" altLang="zh-CN"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Ethical implications</a:t>
            </a:r>
            <a:endParaRPr lang="en-US" altLang="zh-CN"/>
          </a:p>
        </p:txBody>
      </p:sp>
      <p:sp>
        <p:nvSpPr>
          <p:cNvPr id="3" name="内容占位符 2"/>
          <p:cNvSpPr>
            <a:spLocks noGrp="1"/>
          </p:cNvSpPr>
          <p:nvPr>
            <p:ph idx="1"/>
          </p:nvPr>
        </p:nvSpPr>
        <p:spPr/>
        <p:txBody>
          <a:bodyPr/>
          <a:p>
            <a:endParaRPr lang="en-US" altLang="zh-CN"/>
          </a:p>
          <a:p>
            <a:r>
              <a:rPr lang="en-US" altLang="zh-CN" sz="1800"/>
              <a:t>The paper notes that certain technology stack trends, such as .NET, are decreasing. If this information were provided to Stack Overflow, the platform might reduce .NET-related recommendations to users, potentially resulting in unanswered questions. </a:t>
            </a:r>
            <a:endParaRPr lang="en-US" altLang="zh-CN" sz="1800"/>
          </a:p>
          <a:p>
            <a:endParaRPr lang="en-US" altLang="zh-CN" sz="1800"/>
          </a:p>
          <a:p>
            <a:r>
              <a:rPr lang="en-US" altLang="zh-CN" sz="1800"/>
              <a:t>If the findings of this paper were misused, for example, in the job market, recruiters might reduce the number of .NET-related job openings and instead favor candidates skilled in Java, which could negatively impact job seekers specializing in .NET.</a:t>
            </a:r>
            <a:endParaRPr lang="en-US" altLang="zh-CN"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Open Science &amp; Reproducibility</a:t>
            </a:r>
            <a:br>
              <a:rPr lang="en-US" altLang="zh-CN"/>
            </a:br>
            <a:endParaRPr lang="en-US" altLang="zh-CN"/>
          </a:p>
        </p:txBody>
      </p:sp>
      <p:sp>
        <p:nvSpPr>
          <p:cNvPr id="3" name="内容占位符 2"/>
          <p:cNvSpPr>
            <a:spLocks noGrp="1"/>
          </p:cNvSpPr>
          <p:nvPr>
            <p:ph idx="1"/>
          </p:nvPr>
        </p:nvSpPr>
        <p:spPr/>
        <p:txBody>
          <a:bodyPr/>
          <a:p>
            <a:r>
              <a:rPr lang="en-US" altLang="zh-CN"/>
              <a:t>The study uses publicly available Stack Overflow data, but the authors don’t share their full preprocessing steps, code, or detailed LDA settings. Without these, it’s hard for others to get the exact same results. Releasing scripts, parameter details, and intermediate outputs would make the work much easier to reproduce.</a:t>
            </a:r>
            <a:endParaRPr lang="en-US" altLang="zh-CN"/>
          </a:p>
        </p:txBody>
      </p:sp>
    </p:spTree>
  </p:cSld>
  <p:clrMapOvr>
    <a:masterClrMapping/>
  </p:clrMapOvr>
</p:sld>
</file>

<file path=ppt/tags/tag1.xml><?xml version="1.0" encoding="utf-8"?>
<p:tagLst xmlns:p="http://schemas.openxmlformats.org/presentationml/2006/main">
  <p:tag name="KSO_WM_UNIT_DIAGRAM_MODELTYPE" val="dynamicNum"/>
  <p:tag name="KSO_WM_BEAUTIFY_FLAG" val="#wm#"/>
  <p:tag name="KSO_WM_UNIT_TYPE" val="ζ_h_f"/>
  <p:tag name="KSO_WM_UNIT_DYNMNUM_TYPE" val="1"/>
  <p:tag name="KSO_WM_DYNAMICNUM_SPEED" val="3"/>
  <p:tag name="KSO_WM_UNIT_DYNMNUM_DGM_ANIMTYPE" val="5"/>
  <p:tag name="KSO_WM_UNIT_INDEX" val="1755111490745_1_1"/>
  <p:tag name="KSO_WM_DIAGRAM_VIRTUALLY_FRAME" val="{&quot;height&quot;:342.65,&quot;left&quot;:66,&quot;top&quot;:143.75,&quot;width&quot;:828}"/>
</p:tagLst>
</file>

<file path=ppt/tags/tag2.xml><?xml version="1.0" encoding="utf-8"?>
<p:tagLst xmlns:p="http://schemas.openxmlformats.org/presentationml/2006/main">
  <p:tag name="KSO_WM_UNIT_DIAGRAM_MODELTYPE" val="dynamicNum"/>
  <p:tag name="KSO_WM_BEAUTIFY_FLAG" val="#wm#"/>
  <p:tag name="KSO_WM_UNIT_TYPE" val="ζ_h_f"/>
  <p:tag name="KSO_WM_UNIT_DYNMNUM_TYPE" val="1"/>
  <p:tag name="KSO_WM_DYNAMICNUM_SPEED" val="3"/>
  <p:tag name="KSO_WM_UNIT_DYNMNUM_DGM_ANIMTYPE" val="5"/>
  <p:tag name="KSO_WM_UNIT_INDEX" val="1755111490745_1_1"/>
  <p:tag name="KSO_WM_DIAGRAM_VIRTUALLY_FRAME" val="{&quot;height&quot;:342.65,&quot;left&quot;:66,&quot;top&quot;:143.75,&quot;width&quot;:828}"/>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7668</Words>
  <Application>WPS 演示</Application>
  <PresentationFormat>宽屏</PresentationFormat>
  <Paragraphs>145</Paragraphs>
  <Slides>23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23</vt:i4>
      </vt:variant>
    </vt:vector>
  </HeadingPairs>
  <TitlesOfParts>
    <vt:vector size="30" baseType="lpstr">
      <vt:lpstr>Arial</vt:lpstr>
      <vt:lpstr>宋体</vt:lpstr>
      <vt:lpstr>Wingdings</vt:lpstr>
      <vt:lpstr>Calibri</vt:lpstr>
      <vt:lpstr>微软雅黑</vt:lpstr>
      <vt:lpstr>Arial Unicode MS</vt:lpstr>
      <vt:lpstr>WPS</vt:lpstr>
      <vt:lpstr>PowerPoint 演示文稿</vt:lpstr>
      <vt:lpstr>Summary on </vt:lpstr>
      <vt:lpstr>Summary(What is Stack Overflow)</vt:lpstr>
      <vt:lpstr>Summary</vt:lpstr>
      <vt:lpstr>Reseach Data and Reseach Methodology</vt:lpstr>
      <vt:lpstr>Research Data</vt:lpstr>
      <vt:lpstr>Discussion 1🤔 :Should the research data start on July 31 or September 15? What do you think?</vt:lpstr>
      <vt:lpstr>Discussion 1🤔 :Should the research data start on July 31 or September 15? What do you think?</vt:lpstr>
      <vt:lpstr>Research Methodology</vt:lpstr>
      <vt:lpstr>Discussion 2🤔 :If the authors had directly used Stack Overflow’s user-generated tags as the topics for analysis, instead of applying LDA(which generated 40 topics), what problems could that cause?</vt:lpstr>
      <vt:lpstr>Discussion 2🤔 :If the authors had directly used Stack Overflow’s user-generated tags as the topics for analysis, instead of applying LDA(which generated 40 topics), what problems could that cause?</vt:lpstr>
      <vt:lpstr>After reading this paper, what do we now know that we did not know before?</vt:lpstr>
      <vt:lpstr>The authors drew conclusions based on four research questions.</vt:lpstr>
      <vt:lpstr>RQ1: What are the main discussion topics in Stack Overflow?</vt:lpstr>
      <vt:lpstr>RQ2:Does a question in one topic trigger answers in another?</vt:lpstr>
      <vt:lpstr>RQ2:Does a question in one topic trigger answers in another?</vt:lpstr>
      <vt:lpstr>Discussion 3🤔 , what if K changed?</vt:lpstr>
      <vt:lpstr>RQ3. How does developer interest change over time?</vt:lpstr>
      <vt:lpstr>RQ4. How do the interests in specific technologies change over time?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yck</dc:creator>
  <cp:lastModifiedBy>Chengkai Yang</cp:lastModifiedBy>
  <cp:revision>201</cp:revision>
  <dcterms:created xsi:type="dcterms:W3CDTF">2023-08-09T12:44:00Z</dcterms:created>
  <dcterms:modified xsi:type="dcterms:W3CDTF">2025-08-15T04:20:45Z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BE0610E1996B4318B4FC2DABDA97927B_12</vt:lpwstr>
  </property>
</Properties>
</file>