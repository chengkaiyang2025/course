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8" r:id="rId6"/>
    <p:sldId id="266" r:id="rId7"/>
    <p:sldId id="261" r:id="rId8"/>
    <p:sldId id="262" r:id="rId9"/>
    <p:sldId id="263" r:id="rId10"/>
    <p:sldId id="264" r:id="rId11"/>
    <p:sldId id="259" r:id="rId12"/>
    <p:sldId id="26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Summary(What is Stack Overflow)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 sz="2000"/>
              <a:t>Stack Overflow is a question-and-answer community for programmers, founded in 2008, where users can ask or answer programming-related questions. Each </a:t>
            </a:r>
            <a:r>
              <a:rPr lang="en-US" altLang="zh-CN" sz="2000" b="1"/>
              <a:t>question </a:t>
            </a:r>
            <a:r>
              <a:rPr lang="en-US" altLang="zh-CN" sz="2000"/>
              <a:t>can be tagged (e.g., *python*, *java*, *machine-learning*) .</a:t>
            </a:r>
            <a:endParaRPr lang="en-US" altLang="zh-CN" sz="2000"/>
          </a:p>
          <a:p>
            <a:pPr marL="0" indent="0">
              <a:buNone/>
            </a:pPr>
            <a:endParaRPr lang="en-US" altLang="zh-CN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4150" y="2914650"/>
            <a:ext cx="6418580" cy="34702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285" y="2914650"/>
            <a:ext cx="3221355" cy="33940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zh-CN">
                <a:sym typeface="+mn-ea"/>
              </a:rPr>
              <a:t>Summary:Research Data &amp; Research Methodology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 sz="2000"/>
              <a:t>The authors analyzed Stack Overflow </a:t>
            </a:r>
            <a:r>
              <a:rPr lang="en-US" altLang="zh-CN" sz="2000" b="1"/>
              <a:t>data from 2008 to 2010,</a:t>
            </a:r>
            <a:r>
              <a:rPr lang="en-US" altLang="zh-CN" sz="2000"/>
              <a:t> using an</a:t>
            </a:r>
            <a:r>
              <a:rPr lang="en-US" altLang="zh-CN" sz="2000" b="1"/>
              <a:t> LDA topic model</a:t>
            </a:r>
            <a:r>
              <a:rPr lang="en-US" altLang="zh-CN" sz="2000"/>
              <a:t> to investigate the 4 research questions.</a:t>
            </a:r>
            <a:endParaRPr lang="en-US" altLang="zh-CN" sz="2000"/>
          </a:p>
          <a:p>
            <a:pPr marL="0" indent="0">
              <a:buNone/>
            </a:pPr>
            <a:endParaRPr lang="en-US" altLang="zh-CN" sz="20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820" y="2456815"/>
            <a:ext cx="5209540" cy="34753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zh-CN">
                <a:sym typeface="+mn-ea"/>
              </a:rPr>
              <a:t>Summary:Research Data &amp; Research Methodology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 sz="2000"/>
              <a:t>The authors analyzed Stack Overflow </a:t>
            </a:r>
            <a:r>
              <a:rPr lang="en-US" altLang="zh-CN" sz="2000" b="1"/>
              <a:t>data from 2008 to 2010,</a:t>
            </a:r>
            <a:r>
              <a:rPr lang="en-US" altLang="zh-CN" sz="2000"/>
              <a:t> using an</a:t>
            </a:r>
            <a:r>
              <a:rPr lang="en-US" altLang="zh-CN" sz="2000" b="1"/>
              <a:t> LDA topic model</a:t>
            </a:r>
            <a:r>
              <a:rPr lang="en-US" altLang="zh-CN" sz="2000"/>
              <a:t> to investigate the 4 research questions.</a:t>
            </a:r>
            <a:endParaRPr lang="en-US" altLang="zh-CN" sz="2000"/>
          </a:p>
          <a:p>
            <a:r>
              <a:rPr lang="en-US" altLang="zh-CN" sz="2000"/>
              <a:t>Post extraction and Pre-processing </a:t>
            </a:r>
            <a:r>
              <a:rPr lang="en-US" altLang="zh-CN" sz="2000" b="1"/>
              <a:t>output</a:t>
            </a:r>
            <a:r>
              <a:rPr lang="en-US" altLang="zh-CN" sz="2000"/>
              <a:t>: Remove HTML tags, stop words, maintain metadata: post type,timestamp..</a:t>
            </a:r>
            <a:endParaRPr lang="en-US" altLang="zh-CN" sz="2000"/>
          </a:p>
          <a:p>
            <a:r>
              <a:rPr lang="en-US" altLang="zh-CN" sz="2000"/>
              <a:t>LDA </a:t>
            </a:r>
            <a:r>
              <a:rPr lang="en-US" altLang="zh-CN" sz="2000" b="1"/>
              <a:t>output</a:t>
            </a:r>
            <a:r>
              <a:rPr lang="en-US" altLang="zh-CN" sz="2000"/>
              <a:t>: topic membership vectors for each post.(</a:t>
            </a:r>
            <a:r>
              <a:rPr lang="en-US" altLang="zh-CN" sz="2000">
                <a:sym typeface="+mn-ea"/>
              </a:rPr>
              <a:t>K=40 number of topics</a:t>
            </a:r>
            <a:r>
              <a:rPr lang="en-US" altLang="zh-CN" sz="2000"/>
              <a:t>)</a:t>
            </a:r>
            <a:endParaRPr lang="en-US" altLang="zh-CN" sz="2000"/>
          </a:p>
          <a:p>
            <a:r>
              <a:rPr lang="en-US" altLang="zh-CN" sz="2000"/>
              <a:t>Post-processing:Metrics including Topic share (RQ1),Topic relationships (RQ2). Topic trends over time (RQ3),Technology trends over time (RQ4).</a:t>
            </a:r>
            <a:endParaRPr lang="en-US" altLang="zh-CN" sz="2000"/>
          </a:p>
          <a:p>
            <a:endParaRPr lang="en-US" altLang="zh-CN" sz="2000"/>
          </a:p>
          <a:p>
            <a:pPr marL="0" indent="0">
              <a:buNone/>
            </a:pPr>
            <a:endParaRPr lang="en-US" altLang="zh-CN" sz="2000"/>
          </a:p>
        </p:txBody>
      </p:sp>
      <p:pic>
        <p:nvPicPr>
          <p:cNvPr id="4" name="内容占位符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720" y="4048125"/>
            <a:ext cx="8557895" cy="2312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 altLang="zh-CN">
                <a:sym typeface="+mn-ea"/>
              </a:rPr>
              <a:t>Disucssion 1: Research Data should start from July 31 or Sep 15,what do you think?</a:t>
            </a:r>
            <a:endParaRPr lang="zh-CN" altLang="en-US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/>
        <p:txBody>
          <a:bodyPr>
            <a:normAutofit fontScale="90000" lnSpcReduction="20000"/>
          </a:bodyPr>
          <a:p>
            <a:r>
              <a:rPr lang="en-US" altLang="zh-CN" sz="2000">
                <a:sym typeface="+mn-ea"/>
              </a:rPr>
              <a:t>However, Stack Overflow was only opened to the public starting on September 15, and between July 31, 2008 and September 15, 2008 it was in private beta. This point was </a:t>
            </a:r>
            <a:r>
              <a:rPr lang="en-US" altLang="zh-CN" sz="2000" b="1">
                <a:sym typeface="+mn-ea"/>
              </a:rPr>
              <a:t>not mentioned</a:t>
            </a:r>
            <a:r>
              <a:rPr lang="en-US" altLang="zh-CN" sz="2000">
                <a:sym typeface="+mn-ea"/>
              </a:rPr>
              <a:t> in the paper.</a:t>
            </a:r>
            <a:endParaRPr lang="en-US" altLang="zh-CN" sz="2000"/>
          </a:p>
          <a:p>
            <a:endParaRPr lang="en-US" altLang="zh-CN" sz="2000"/>
          </a:p>
          <a:p>
            <a:endParaRPr lang="en-US" altLang="zh-CN" sz="2000"/>
          </a:p>
          <a:p>
            <a:pPr marL="0" indent="0">
              <a:buNone/>
            </a:pPr>
            <a:endParaRPr lang="zh-CN" altLang="en-US" sz="2000"/>
          </a:p>
          <a:p>
            <a:pPr marL="0" indent="0">
              <a:buNone/>
            </a:pPr>
            <a:endParaRPr lang="zh-CN" altLang="en-US" sz="2000"/>
          </a:p>
          <a:p>
            <a:pPr marL="0" indent="0">
              <a:buNone/>
            </a:pPr>
            <a:endParaRPr lang="en-US" altLang="zh-CN" sz="2000">
              <a:sym typeface="+mn-ea"/>
            </a:endParaRPr>
          </a:p>
          <a:p>
            <a:pPr marL="0" indent="0">
              <a:buNone/>
            </a:pPr>
            <a:endParaRPr lang="en-US" altLang="zh-CN" sz="2000">
              <a:sym typeface="+mn-ea"/>
            </a:endParaRP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r>
              <a:rPr lang="en-US" altLang="zh-CN" sz="1400">
                <a:sym typeface="+mn-ea"/>
              </a:rPr>
              <a:t>- https://en.wikipedia.org/wiki/Stack_Overflow</a:t>
            </a:r>
            <a:endParaRPr lang="en-US" altLang="zh-CN" sz="1400"/>
          </a:p>
          <a:p>
            <a:pPr marL="0" indent="0">
              <a:buNone/>
            </a:pPr>
            <a:r>
              <a:rPr lang="en-US" altLang="zh-CN" sz="1400">
                <a:sym typeface="+mn-ea"/>
              </a:rPr>
              <a:t>- https://stackoverflow.blog/2013/09/16/five-years-ago-stack-overflow-launched-then-a-miracle-occurred/</a:t>
            </a:r>
            <a:endParaRPr lang="en-US" altLang="zh-CN" sz="1400">
              <a:sym typeface="+mn-ea"/>
            </a:endParaRPr>
          </a:p>
          <a:p>
            <a:pPr marL="0" indent="0">
              <a:buNone/>
            </a:pPr>
            <a:r>
              <a:rPr lang="en-US" altLang="zh-CN" sz="1400">
                <a:sym typeface="+mn-ea"/>
              </a:rPr>
              <a:t>- https://www.joelonsoftware.com/2008/09/15/stack-overflow-launches/</a:t>
            </a: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260" y="2355215"/>
            <a:ext cx="5209540" cy="34753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extLst>
                                      <p:ext uri="{505F2C04-C923-438B-8C0F-E0CD2BADF298}">
                                        <wppc:dynamicDigit xmlns:wppc="http://www.wps.cn/officeDocument/PresentationCustomData" type="0">
                                          <p:anim to="" calcmode="lin" valueType="num">
                                            <p:cBhvr>
                                              <p:cTn id="7" dur="2000" fill="hold"/>
                                              <p:tgtEl>
                                                <p:spTgt spid="3">
                                                  <p:txEl>
                                                    <p:pRg st="0" end="0"/>
                                                  </p:txEl>
                                                </p:spTgt>
                                              </p:tgtEl>
                                              <p:attrNameLst>
                                                <p:attrName>num.show</p:attrName>
                                              </p:attrNameLst>
                                            </p:cBhvr>
                                            <p:tavLst>
                                              <p:tav tm="0">
                                                <p:val>
                                                  <p:fltVal val="0"/>
                                                </p:val>
                                              </p:tav>
                                              <p:tav tm="100000">
                                                <p:val>
                                                  <p:strVal val="#ppt_v"/>
                                                </p:val>
                                              </p:tav>
                                            </p:tavLst>
                                          </p:anim>
                                        </wppc:dynamicDigit>
                                      </p:ext>
                                    </p:extLs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Summary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71625"/>
            <a:ext cx="10515600" cy="4351338"/>
          </a:xfrm>
        </p:spPr>
        <p:txBody>
          <a:bodyPr/>
          <a:p>
            <a:r>
              <a:rPr lang="en-US" altLang="zh-CN" sz="2000"/>
              <a:t>RQ1: What are the main discussion topics in Stack Overflow?</a:t>
            </a:r>
            <a:endParaRPr lang="en-US" altLang="zh-CN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5860" y="1318260"/>
            <a:ext cx="3520440" cy="5013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Summary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 sz="2000"/>
              <a:t>RQ2:Does a question in one topic trigger answers in another?</a:t>
            </a:r>
            <a:endParaRPr lang="en-US" altLang="zh-CN" sz="20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1280" y="1968500"/>
            <a:ext cx="3291840" cy="45339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Summary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 sz="2000"/>
              <a:t>RQ3. How does developer interest change over time?</a:t>
            </a:r>
            <a:endParaRPr lang="en-US" altLang="zh-CN"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Summary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RQ4. How do the interests in specific technologies change over time?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DIAGRAM_MODELTYPE" val="dynamicNum"/>
  <p:tag name="KSO_WM_BEAUTIFY_FLAG" val="#wm#"/>
  <p:tag name="KSO_WM_UNIT_TYPE" val="ζ_h_f"/>
  <p:tag name="KSO_WM_UNIT_DYNMNUM_TYPE" val="1"/>
  <p:tag name="KSO_WM_DYNAMICNUM_SPEED" val="3"/>
  <p:tag name="KSO_WM_UNIT_DYNMNUM_DGM_ANIMTYPE" val="5"/>
  <p:tag name="KSO_WM_UNIT_INDEX" val="1755111490745_1_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1677</Words>
  <Application>WPS 演示</Application>
  <PresentationFormat>宽屏</PresentationFormat>
  <Paragraphs>54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  <vt:lpstr>PowerPoint 演示文稿</vt:lpstr>
      <vt:lpstr>PowerPoint 演示文稿</vt:lpstr>
      <vt:lpstr>Summary:Research Data &amp; Research Methodology</vt:lpstr>
      <vt:lpstr>Summary:Research Data &amp; Research Methodology</vt:lpstr>
      <vt:lpstr>PowerPoint 演示文稿</vt:lpstr>
      <vt:lpstr>Summary</vt:lpstr>
      <vt:lpstr>Summary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yck</dc:creator>
  <cp:lastModifiedBy>Chengkai Yang</cp:lastModifiedBy>
  <cp:revision>59</cp:revision>
  <dcterms:created xsi:type="dcterms:W3CDTF">2023-08-09T12:44:00Z</dcterms:created>
  <dcterms:modified xsi:type="dcterms:W3CDTF">2025-08-13T19:18:52Z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BE0610E1996B4318B4FC2DABDA97927B_12</vt:lpwstr>
  </property>
</Properties>
</file>